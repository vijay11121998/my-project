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I'll walk you through an agent that takes over the monthly bank reconciliation for each practice — from collecting the documents all the way to the finished report you send the physician — while keeping your accountants in control of every decision that matters. I'll show you how it works, why you can trust the numbers, and how we'd roll it 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work your team does today by hand. It's not hard in concept — match each deposit to the payment that explains it, match each withdrawal to its expense, resolve what doesn't line up, prove the bank agrees with the books. But it's hours of careful, repetitive effort, multiplied across every practice and every month.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slide. A natural worry with AI in finance is, 'Can I trust the numbers?' Our answer is architectural: the AI never decides that your books balance. It reads the documents and does the investigative work, but the arithmetic is done by deterministic code that produces the same answer every time. And every figure links back to the document it came from. So the report isn't a black box — it's fully explainable and auditable.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whole journey on one slide. Notice the three hand-raise symbols — those are the points where the agent stops and waits for your team. Everything between them is automated. I'll come back to those checkpoints in a moment.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Reconciliation isn't just matching equal amounts. A single Aetna deposit might cover forty claims. A card processor lumps a day's copays into one bank line. A payor claws back a prior overpayment, so the deposit is short by exactly that amount. The agent is built for these realities — it doesn't just give up when the numbers aren't a clean one-to-one match.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something doesn't tie out, you don't dig through spreadsheets — you ask. The agent investigates and comes back with an explanation and a proposed fix. You stay in the driver's seat; it does the legwork.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is deliberately designed to stop at the moments that carry professional or financial responsibility. It proposes; your team decides. This isn't 'AI replaces the accountant' — it's 'AI does the grunt work, the accountant keeps the judgment.'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guarantees. The math is repeatable, every number is traceable, every action is logged, and nothing falls through the cracks. That's what makes the report defensible in an audit and trustworthy to the physician who receives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ERAs and EOBs contain PHI, this is built for healthcare from the ground up — isolation per practice, encryption, and a full audit trail. The exact AI hosting model is something we'll finalize with your compliance team so it fits what you already have.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output is exactly what your accountant produces today — a clean Excel report — but with the matching done and every figure backed by its source. Your accountant reviews, signs off, and sends it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We'd start safe: one practice, one month, in parallel with your existing process, so you can verify the agent against a known-good result before relying on it. Then we tune and expand.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 up: it does the heavy lifting end-to-end, you keep control of the decisions, and you get back hours per practice every month. Happy to take questions or walk through a live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64008"/>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0"/>
            <a:ext cx="10515600" cy="1828800"/>
          </a:xfrm>
          <a:prstGeom prst="rect">
            <a:avLst/>
          </a:prstGeom>
          <a:noFill/>
        </p:spPr>
        <p:txBody>
          <a:bodyPr wrap="square">
            <a:spAutoFit/>
          </a:bodyPr>
          <a:lstStyle/>
          <a:p>
            <a:r>
              <a:rPr sz="4600" b="1" i="0">
                <a:solidFill>
                  <a:srgbClr val="FFFFFF"/>
                </a:solidFill>
                <a:latin typeface="Calibri"/>
              </a:rPr>
              <a:t>AI Bank Reconciliation Agent</a:t>
            </a:r>
          </a:p>
          <a:p>
            <a:pPr>
              <a:spcBef>
                <a:spcPts val="1400"/>
              </a:spcBef>
            </a:pPr>
            <a:r>
              <a:rPr sz="2200" b="0" i="0">
                <a:solidFill>
                  <a:srgbClr val="BFD8D3"/>
                </a:solidFill>
                <a:latin typeface="Calibri"/>
              </a:rPr>
              <a:t>Automated month-end reconciliation for your physician practices</a:t>
            </a:r>
          </a:p>
        </p:txBody>
      </p:sp>
      <p:sp>
        <p:nvSpPr>
          <p:cNvPr id="5" name="TextBox 4"/>
          <p:cNvSpPr txBox="1"/>
          <p:nvPr/>
        </p:nvSpPr>
        <p:spPr>
          <a:xfrm>
            <a:off x="822960" y="5852160"/>
            <a:ext cx="10515600" cy="457200"/>
          </a:xfrm>
          <a:prstGeom prst="rect">
            <a:avLst/>
          </a:prstGeom>
          <a:noFill/>
        </p:spPr>
        <p:txBody>
          <a:bodyPr wrap="square">
            <a:spAutoFit/>
          </a:bodyPr>
          <a:lstStyle/>
          <a:p>
            <a:r>
              <a:rPr sz="1400" b="1" i="0">
                <a:solidFill>
                  <a:srgbClr val="128C7E"/>
                </a:solidFill>
                <a:latin typeface="Calibri"/>
              </a:rPr>
              <a:t>Client overview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320040"/>
          </a:xfrm>
          <a:prstGeom prst="rect">
            <a:avLst/>
          </a:prstGeom>
          <a:noFill/>
        </p:spPr>
        <p:txBody>
          <a:bodyPr wrap="square">
            <a:spAutoFit/>
          </a:bodyPr>
          <a:lstStyle/>
          <a:p>
            <a:r>
              <a:rPr sz="1100" b="1" i="0">
                <a:solidFill>
                  <a:srgbClr val="128C7E"/>
                </a:solidFill>
                <a:latin typeface="Calibri"/>
              </a:rPr>
              <a:t>MONTH-END RECONCILIATION AGENT</a:t>
            </a:r>
          </a:p>
        </p:txBody>
      </p:sp>
      <p:sp>
        <p:nvSpPr>
          <p:cNvPr id="4" name="TextBox 3"/>
          <p:cNvSpPr txBox="1"/>
          <p:nvPr/>
        </p:nvSpPr>
        <p:spPr>
          <a:xfrm>
            <a:off x="548640" y="640080"/>
            <a:ext cx="11064240" cy="822960"/>
          </a:xfrm>
          <a:prstGeom prst="rect">
            <a:avLst/>
          </a:prstGeom>
          <a:noFill/>
        </p:spPr>
        <p:txBody>
          <a:bodyPr wrap="square">
            <a:spAutoFit/>
          </a:bodyPr>
          <a:lstStyle/>
          <a:p>
            <a:r>
              <a:rPr sz="3000" b="1" i="0">
                <a:solidFill>
                  <a:srgbClr val="0E2A47"/>
                </a:solidFill>
                <a:latin typeface="Calibri"/>
              </a:rPr>
              <a:t>The problem today</a:t>
            </a:r>
          </a:p>
        </p:txBody>
      </p:sp>
      <p:sp>
        <p:nvSpPr>
          <p:cNvPr id="5" name="TextBox 4"/>
          <p:cNvSpPr txBox="1"/>
          <p:nvPr/>
        </p:nvSpPr>
        <p:spPr>
          <a:xfrm>
            <a:off x="640080" y="1737360"/>
            <a:ext cx="10972800" cy="4572000"/>
          </a:xfrm>
          <a:prstGeom prst="rect">
            <a:avLst/>
          </a:prstGeom>
          <a:noFill/>
        </p:spPr>
        <p:txBody>
          <a:bodyPr wrap="square">
            <a:spAutoFit/>
          </a:bodyPr>
          <a:lstStyle/>
          <a:p>
            <a:pPr>
              <a:spcAft>
                <a:spcPts val="1000"/>
              </a:spcAft>
            </a:pPr>
            <a:r>
              <a:rPr sz="1800" b="1" i="0">
                <a:solidFill>
                  <a:srgbClr val="128C7E"/>
                </a:solidFill>
                <a:latin typeface="Calibri"/>
              </a:rPr>
              <a:t>•  </a:t>
            </a:r>
            <a:r>
              <a:rPr sz="1800" b="0" i="0">
                <a:solidFill>
                  <a:srgbClr val="1B2A33"/>
                </a:solidFill>
                <a:latin typeface="Calibri"/>
              </a:rPr>
              <a:t>Every practice generates a stack of financial documents each month, from many sources and in every format</a:t>
            </a:r>
          </a:p>
          <a:p>
            <a:pPr lvl="1">
              <a:spcAft>
                <a:spcPts val="1000"/>
              </a:spcAft>
            </a:pPr>
            <a:r>
              <a:rPr sz="1800" b="1" i="0">
                <a:solidFill>
                  <a:srgbClr val="128C7E"/>
                </a:solidFill>
                <a:latin typeface="Calibri"/>
              </a:rPr>
              <a:t>–  </a:t>
            </a:r>
            <a:r>
              <a:rPr sz="1600" b="0" i="0">
                <a:solidFill>
                  <a:srgbClr val="1B2A33"/>
                </a:solidFill>
                <a:latin typeface="Calibri"/>
              </a:rPr>
              <a:t>Bank statements, insurance remittances (ERAs/EOBs), EFT notices, government payor remittances</a:t>
            </a:r>
          </a:p>
          <a:p>
            <a:pPr lvl="1">
              <a:spcAft>
                <a:spcPts val="1000"/>
              </a:spcAft>
            </a:pPr>
            <a:r>
              <a:rPr sz="1800" b="1" i="0">
                <a:solidFill>
                  <a:srgbClr val="128C7E"/>
                </a:solidFill>
                <a:latin typeface="Calibri"/>
              </a:rPr>
              <a:t>–  </a:t>
            </a:r>
            <a:r>
              <a:rPr sz="1600" b="0" i="0">
                <a:solidFill>
                  <a:srgbClr val="1B2A33"/>
                </a:solidFill>
                <a:latin typeface="Calibri"/>
              </a:rPr>
              <a:t>PMS reports, GL exports, payroll, vendor invoices, check registers, utility bills</a:t>
            </a:r>
          </a:p>
          <a:p>
            <a:pPr>
              <a:spcAft>
                <a:spcPts val="1000"/>
              </a:spcAft>
            </a:pPr>
            <a:r>
              <a:rPr sz="1800" b="1" i="0">
                <a:solidFill>
                  <a:srgbClr val="128C7E"/>
                </a:solidFill>
                <a:latin typeface="Calibri"/>
              </a:rPr>
              <a:t>•  </a:t>
            </a:r>
            <a:r>
              <a:rPr sz="1800" b="0" i="0">
                <a:solidFill>
                  <a:srgbClr val="1B2A33"/>
                </a:solidFill>
                <a:latin typeface="Calibri"/>
              </a:rPr>
              <a:t>They arrive by email, shared drives, and manual upload</a:t>
            </a:r>
          </a:p>
          <a:p>
            <a:pPr>
              <a:spcAft>
                <a:spcPts val="1000"/>
              </a:spcAft>
            </a:pPr>
            <a:r>
              <a:rPr sz="1800" b="1" i="0">
                <a:solidFill>
                  <a:srgbClr val="128C7E"/>
                </a:solidFill>
                <a:latin typeface="Calibri"/>
              </a:rPr>
              <a:t>•  </a:t>
            </a:r>
            <a:r>
              <a:rPr sz="1800" b="0" i="0">
                <a:solidFill>
                  <a:srgbClr val="1B2A33"/>
                </a:solidFill>
                <a:latin typeface="Calibri"/>
              </a:rPr>
              <a:t>An accountant manually reads, matches, chases discrepancies, and writes it up</a:t>
            </a:r>
          </a:p>
          <a:p>
            <a:pPr>
              <a:spcAft>
                <a:spcPts val="1000"/>
              </a:spcAft>
            </a:pPr>
            <a:r>
              <a:rPr sz="1800" b="1" i="0">
                <a:solidFill>
                  <a:srgbClr val="128C7E"/>
                </a:solidFill>
                <a:latin typeface="Calibri"/>
              </a:rPr>
              <a:t>•  </a:t>
            </a:r>
            <a:r>
              <a:rPr sz="1800" b="0" i="0">
                <a:solidFill>
                  <a:srgbClr val="1B2A33"/>
                </a:solidFill>
                <a:latin typeface="Calibri"/>
              </a:rPr>
              <a:t>Slow, repetitive, and error-prone — and it repeats for every practice, every month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10515600" cy="457200"/>
          </a:xfrm>
          <a:prstGeom prst="rect">
            <a:avLst/>
          </a:prstGeom>
          <a:noFill/>
        </p:spPr>
        <p:txBody>
          <a:bodyPr wrap="square">
            <a:spAutoFit/>
          </a:bodyPr>
          <a:lstStyle/>
          <a:p>
            <a:r>
              <a:rPr sz="1400" b="1" i="0">
                <a:solidFill>
                  <a:srgbClr val="128C7E"/>
                </a:solidFill>
                <a:latin typeface="Calibri"/>
              </a:rPr>
              <a:t>THE ONE IDEA THAT MAKES THIS TRUSTWORTHY</a:t>
            </a:r>
          </a:p>
        </p:txBody>
      </p:sp>
      <p:sp>
        <p:nvSpPr>
          <p:cNvPr id="5" name="Rectangle 4"/>
          <p:cNvSpPr/>
          <p:nvPr/>
        </p:nvSpPr>
        <p:spPr>
          <a:xfrm>
            <a:off x="822960" y="1371600"/>
            <a:ext cx="10515600" cy="22860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457200"/>
          <a:lstStyle/>
          <a:p>
            <a:pPr algn="ctr"/>
            <a:r>
              <a:rPr sz="2800" b="1" i="0">
                <a:solidFill>
                  <a:srgbClr val="FFFFFF"/>
                </a:solidFill>
                <a:latin typeface="Calibri"/>
              </a:rPr>
              <a:t>The AI reads and understands the documents.</a:t>
            </a:r>
          </a:p>
          <a:p>
            <a:r>
              <a:rPr sz="2800" b="1" i="0">
                <a:solidFill>
                  <a:srgbClr val="7FD4C8"/>
                </a:solidFill>
                <a:latin typeface="Calibri"/>
              </a:rPr>
              <a:t>The math is done by audited, deterministic code — not the AI's guess.</a:t>
            </a:r>
          </a:p>
        </p:txBody>
      </p:sp>
      <p:sp>
        <p:nvSpPr>
          <p:cNvPr id="6" name="TextBox 5"/>
          <p:cNvSpPr txBox="1"/>
          <p:nvPr/>
        </p:nvSpPr>
        <p:spPr>
          <a:xfrm>
            <a:off x="640080" y="4023360"/>
            <a:ext cx="10972800" cy="4572000"/>
          </a:xfrm>
          <a:prstGeom prst="rect">
            <a:avLst/>
          </a:prstGeom>
          <a:noFill/>
        </p:spPr>
        <p:txBody>
          <a:bodyPr wrap="square">
            <a:spAutoFit/>
          </a:bodyPr>
          <a:lstStyle/>
          <a:p>
            <a:pPr>
              <a:spcAft>
                <a:spcPts val="1000"/>
              </a:spcAft>
            </a:pPr>
            <a:r>
              <a:rPr sz="1800" b="1" i="0">
                <a:solidFill>
                  <a:srgbClr val="128C7E"/>
                </a:solidFill>
                <a:latin typeface="Calibri"/>
              </a:rPr>
              <a:t>•  </a:t>
            </a:r>
            <a:r>
              <a:rPr sz="1800" b="0" i="0">
                <a:solidFill>
                  <a:srgbClr val="1B2A33"/>
                </a:solidFill>
                <a:latin typeface="Calibri"/>
              </a:rPr>
              <a:t>AI does what it's good at: reading messy paperwork, extracting numbers, explaining discrepancies, answering questions</a:t>
            </a:r>
          </a:p>
          <a:p>
            <a:pPr>
              <a:spcAft>
                <a:spcPts val="1000"/>
              </a:spcAft>
            </a:pPr>
            <a:r>
              <a:rPr sz="1800" b="1" i="0">
                <a:solidFill>
                  <a:srgbClr val="128C7E"/>
                </a:solidFill>
                <a:latin typeface="Calibri"/>
              </a:rPr>
              <a:t>•  </a:t>
            </a:r>
            <a:r>
              <a:rPr sz="1800" b="0" i="0">
                <a:solidFill>
                  <a:srgbClr val="1B2A33"/>
                </a:solidFill>
                <a:latin typeface="Calibri"/>
              </a:rPr>
              <a:t>The matching and balancing is done by precise, repeatable rules</a:t>
            </a:r>
          </a:p>
          <a:p>
            <a:pPr>
              <a:spcAft>
                <a:spcPts val="1000"/>
              </a:spcAft>
            </a:pPr>
            <a:r>
              <a:rPr sz="1800" b="1" i="0">
                <a:solidFill>
                  <a:srgbClr val="128C7E"/>
                </a:solidFill>
                <a:latin typeface="Calibri"/>
              </a:rPr>
              <a:t>•  </a:t>
            </a:r>
            <a:r>
              <a:rPr sz="1800" b="0" i="0">
                <a:solidFill>
                  <a:srgbClr val="1B2A33"/>
                </a:solidFill>
                <a:latin typeface="Calibri"/>
              </a:rPr>
              <a:t>Every number traces back to its exact source document — file, page, 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320040"/>
          </a:xfrm>
          <a:prstGeom prst="rect">
            <a:avLst/>
          </a:prstGeom>
          <a:noFill/>
        </p:spPr>
        <p:txBody>
          <a:bodyPr wrap="square">
            <a:spAutoFit/>
          </a:bodyPr>
          <a:lstStyle/>
          <a:p>
            <a:r>
              <a:rPr sz="1100" b="1" i="0">
                <a:solidFill>
                  <a:srgbClr val="128C7E"/>
                </a:solidFill>
                <a:latin typeface="Calibri"/>
              </a:rPr>
              <a:t>MONTH-END RECONCILIATION AGENT</a:t>
            </a:r>
          </a:p>
        </p:txBody>
      </p:sp>
      <p:sp>
        <p:nvSpPr>
          <p:cNvPr id="4" name="TextBox 3"/>
          <p:cNvSpPr txBox="1"/>
          <p:nvPr/>
        </p:nvSpPr>
        <p:spPr>
          <a:xfrm>
            <a:off x="548640" y="640080"/>
            <a:ext cx="11064240" cy="822960"/>
          </a:xfrm>
          <a:prstGeom prst="rect">
            <a:avLst/>
          </a:prstGeom>
          <a:noFill/>
        </p:spPr>
        <p:txBody>
          <a:bodyPr wrap="square">
            <a:spAutoFit/>
          </a:bodyPr>
          <a:lstStyle/>
          <a:p>
            <a:r>
              <a:rPr sz="3000" b="1" i="0">
                <a:solidFill>
                  <a:srgbClr val="0E2A47"/>
                </a:solidFill>
                <a:latin typeface="Calibri"/>
              </a:rPr>
              <a:t>How a month flows through the agent</a:t>
            </a:r>
          </a:p>
        </p:txBody>
      </p:sp>
      <p:sp>
        <p:nvSpPr>
          <p:cNvPr id="5" name="Rectangle 4"/>
          <p:cNvSpPr/>
          <p:nvPr/>
        </p:nvSpPr>
        <p:spPr>
          <a:xfrm>
            <a:off x="502920" y="1920240"/>
            <a:ext cx="2743200" cy="1554480"/>
          </a:xfrm>
          <a:prstGeom prst="rect">
            <a:avLst/>
          </a:prstGeom>
          <a:solidFill>
            <a:srgbClr val="FFFFFF"/>
          </a:solidFill>
          <a:ln w="9525">
            <a:solidFill>
              <a:srgbClr val="D5DDE2"/>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600" b="1" i="0">
                <a:solidFill>
                  <a:srgbClr val="0E2A47"/>
                </a:solidFill>
                <a:latin typeface="Calibri"/>
              </a:rPr>
              <a:t>1   </a:t>
            </a:r>
            <a:r>
              <a:rPr sz="1500" b="1" i="0">
                <a:solidFill>
                  <a:srgbClr val="0E2A47"/>
                </a:solidFill>
                <a:latin typeface="Calibri"/>
              </a:rPr>
              <a:t>Documents arrive</a:t>
            </a:r>
          </a:p>
          <a:p>
            <a:pPr>
              <a:spcBef>
                <a:spcPts val="400"/>
              </a:spcBef>
            </a:pPr>
            <a:r>
              <a:rPr sz="1100" b="0" i="0">
                <a:solidFill>
                  <a:srgbClr val="5A6B76"/>
                </a:solidFill>
                <a:latin typeface="Calibri"/>
              </a:rPr>
              <a:t>Email, drives, uploads — collected automatically</a:t>
            </a:r>
          </a:p>
        </p:txBody>
      </p:sp>
      <p:sp>
        <p:nvSpPr>
          <p:cNvPr id="6" name="Rectangle 5"/>
          <p:cNvSpPr/>
          <p:nvPr/>
        </p:nvSpPr>
        <p:spPr>
          <a:xfrm>
            <a:off x="3410712" y="1920240"/>
            <a:ext cx="2743200" cy="1554480"/>
          </a:xfrm>
          <a:prstGeom prst="rect">
            <a:avLst/>
          </a:prstGeom>
          <a:solidFill>
            <a:srgbClr val="FFFFFF"/>
          </a:solidFill>
          <a:ln w="9525">
            <a:solidFill>
              <a:srgbClr val="D5DDE2"/>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600" b="1" i="0">
                <a:solidFill>
                  <a:srgbClr val="0E2A47"/>
                </a:solidFill>
                <a:latin typeface="Calibri"/>
              </a:rPr>
              <a:t>2   </a:t>
            </a:r>
            <a:r>
              <a:rPr sz="1500" b="1" i="0">
                <a:solidFill>
                  <a:srgbClr val="0E2A47"/>
                </a:solidFill>
                <a:latin typeface="Calibri"/>
              </a:rPr>
              <a:t>Read &amp; classify</a:t>
            </a:r>
          </a:p>
          <a:p>
            <a:pPr>
              <a:spcBef>
                <a:spcPts val="400"/>
              </a:spcBef>
            </a:pPr>
            <a:r>
              <a:rPr sz="1100" b="0" i="0">
                <a:solidFill>
                  <a:srgbClr val="5A6B76"/>
                </a:solidFill>
                <a:latin typeface="Calibri"/>
              </a:rPr>
              <a:t>Each document recognized; data extracted</a:t>
            </a:r>
          </a:p>
        </p:txBody>
      </p:sp>
      <p:sp>
        <p:nvSpPr>
          <p:cNvPr id="7" name="Rectangle 6"/>
          <p:cNvSpPr/>
          <p:nvPr/>
        </p:nvSpPr>
        <p:spPr>
          <a:xfrm>
            <a:off x="6318504" y="1920240"/>
            <a:ext cx="2743200" cy="1554480"/>
          </a:xfrm>
          <a:prstGeom prst="rect">
            <a:avLst/>
          </a:prstGeom>
          <a:solidFill>
            <a:srgbClr val="E7F1EF"/>
          </a:solidFill>
          <a:ln w="19050">
            <a:solidFill>
              <a:srgbClr val="128C7E"/>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600" b="1" i="0">
                <a:solidFill>
                  <a:srgbClr val="128C7E"/>
                </a:solidFill>
                <a:latin typeface="Calibri"/>
              </a:rPr>
              <a:t>✋   </a:t>
            </a:r>
            <a:r>
              <a:rPr sz="1500" b="1" i="0">
                <a:solidFill>
                  <a:srgbClr val="0E2A47"/>
                </a:solidFill>
                <a:latin typeface="Calibri"/>
              </a:rPr>
              <a:t>Confirm set complete</a:t>
            </a:r>
          </a:p>
          <a:p>
            <a:pPr>
              <a:spcBef>
                <a:spcPts val="400"/>
              </a:spcBef>
            </a:pPr>
            <a:r>
              <a:rPr sz="1100" b="0" i="0">
                <a:solidFill>
                  <a:srgbClr val="5A6B76"/>
                </a:solidFill>
                <a:latin typeface="Calibri"/>
              </a:rPr>
              <a:t>You confirm the month is complete</a:t>
            </a:r>
          </a:p>
        </p:txBody>
      </p:sp>
      <p:sp>
        <p:nvSpPr>
          <p:cNvPr id="8" name="Rectangle 7"/>
          <p:cNvSpPr/>
          <p:nvPr/>
        </p:nvSpPr>
        <p:spPr>
          <a:xfrm>
            <a:off x="9226296" y="1920240"/>
            <a:ext cx="2743200" cy="1554480"/>
          </a:xfrm>
          <a:prstGeom prst="rect">
            <a:avLst/>
          </a:prstGeom>
          <a:solidFill>
            <a:srgbClr val="FFFFFF"/>
          </a:solidFill>
          <a:ln w="9525">
            <a:solidFill>
              <a:srgbClr val="D5DDE2"/>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600" b="1" i="0">
                <a:solidFill>
                  <a:srgbClr val="0E2A47"/>
                </a:solidFill>
                <a:latin typeface="Calibri"/>
              </a:rPr>
              <a:t>4   </a:t>
            </a:r>
            <a:r>
              <a:rPr sz="1500" b="1" i="0">
                <a:solidFill>
                  <a:srgbClr val="0E2A47"/>
                </a:solidFill>
                <a:latin typeface="Calibri"/>
              </a:rPr>
              <a:t>Reconcile</a:t>
            </a:r>
          </a:p>
          <a:p>
            <a:pPr>
              <a:spcBef>
                <a:spcPts val="400"/>
              </a:spcBef>
            </a:pPr>
            <a:r>
              <a:rPr sz="1100" b="0" i="0">
                <a:solidFill>
                  <a:srgbClr val="5A6B76"/>
                </a:solidFill>
                <a:latin typeface="Calibri"/>
              </a:rPr>
              <a:t>Deposits and withdrawals matched; balance proven</a:t>
            </a:r>
          </a:p>
        </p:txBody>
      </p:sp>
      <p:sp>
        <p:nvSpPr>
          <p:cNvPr id="9" name="Rectangle 8"/>
          <p:cNvSpPr/>
          <p:nvPr/>
        </p:nvSpPr>
        <p:spPr>
          <a:xfrm>
            <a:off x="502920" y="3794760"/>
            <a:ext cx="2743200" cy="1554480"/>
          </a:xfrm>
          <a:prstGeom prst="rect">
            <a:avLst/>
          </a:prstGeom>
          <a:solidFill>
            <a:srgbClr val="FFFFFF"/>
          </a:solidFill>
          <a:ln w="9525">
            <a:solidFill>
              <a:srgbClr val="D5DDE2"/>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600" b="1" i="0">
                <a:solidFill>
                  <a:srgbClr val="0E2A47"/>
                </a:solidFill>
                <a:latin typeface="Calibri"/>
              </a:rPr>
              <a:t>5   </a:t>
            </a:r>
            <a:r>
              <a:rPr sz="1500" b="1" i="0">
                <a:solidFill>
                  <a:srgbClr val="0E2A47"/>
                </a:solidFill>
                <a:latin typeface="Calibri"/>
              </a:rPr>
              <a:t>Investigate exceptions</a:t>
            </a:r>
          </a:p>
          <a:p>
            <a:pPr>
              <a:spcBef>
                <a:spcPts val="400"/>
              </a:spcBef>
            </a:pPr>
            <a:r>
              <a:rPr sz="1100" b="0" i="0">
                <a:solidFill>
                  <a:srgbClr val="5A6B76"/>
                </a:solidFill>
                <a:latin typeface="Calibri"/>
              </a:rPr>
              <a:t>Conversationally — just ask</a:t>
            </a:r>
          </a:p>
        </p:txBody>
      </p:sp>
      <p:sp>
        <p:nvSpPr>
          <p:cNvPr id="10" name="Rectangle 9"/>
          <p:cNvSpPr/>
          <p:nvPr/>
        </p:nvSpPr>
        <p:spPr>
          <a:xfrm>
            <a:off x="3410712" y="3794760"/>
            <a:ext cx="2743200" cy="1554480"/>
          </a:xfrm>
          <a:prstGeom prst="rect">
            <a:avLst/>
          </a:prstGeom>
          <a:solidFill>
            <a:srgbClr val="E7F1EF"/>
          </a:solidFill>
          <a:ln w="19050">
            <a:solidFill>
              <a:srgbClr val="128C7E"/>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600" b="1" i="0">
                <a:solidFill>
                  <a:srgbClr val="128C7E"/>
                </a:solidFill>
                <a:latin typeface="Calibri"/>
              </a:rPr>
              <a:t>✋   </a:t>
            </a:r>
            <a:r>
              <a:rPr sz="1500" b="1" i="0">
                <a:solidFill>
                  <a:srgbClr val="0E2A47"/>
                </a:solidFill>
                <a:latin typeface="Calibri"/>
              </a:rPr>
              <a:t>Approve resolutions</a:t>
            </a:r>
          </a:p>
          <a:p>
            <a:pPr>
              <a:spcBef>
                <a:spcPts val="400"/>
              </a:spcBef>
            </a:pPr>
            <a:r>
              <a:rPr sz="1100" b="0" i="0">
                <a:solidFill>
                  <a:srgbClr val="5A6B76"/>
                </a:solidFill>
                <a:latin typeface="Calibri"/>
              </a:rPr>
              <a:t>You approve adjustments</a:t>
            </a:r>
          </a:p>
        </p:txBody>
      </p:sp>
      <p:sp>
        <p:nvSpPr>
          <p:cNvPr id="11" name="Rectangle 10"/>
          <p:cNvSpPr/>
          <p:nvPr/>
        </p:nvSpPr>
        <p:spPr>
          <a:xfrm>
            <a:off x="6318504" y="3794760"/>
            <a:ext cx="2743200" cy="1554480"/>
          </a:xfrm>
          <a:prstGeom prst="rect">
            <a:avLst/>
          </a:prstGeom>
          <a:solidFill>
            <a:srgbClr val="E7F1EF"/>
          </a:solidFill>
          <a:ln w="19050">
            <a:solidFill>
              <a:srgbClr val="128C7E"/>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600" b="1" i="0">
                <a:solidFill>
                  <a:srgbClr val="128C7E"/>
                </a:solidFill>
                <a:latin typeface="Calibri"/>
              </a:rPr>
              <a:t>✋   </a:t>
            </a:r>
            <a:r>
              <a:rPr sz="1500" b="1" i="0">
                <a:solidFill>
                  <a:srgbClr val="0E2A47"/>
                </a:solidFill>
                <a:latin typeface="Calibri"/>
              </a:rPr>
              <a:t>Final sign-off</a:t>
            </a:r>
          </a:p>
          <a:p>
            <a:pPr>
              <a:spcBef>
                <a:spcPts val="400"/>
              </a:spcBef>
            </a:pPr>
            <a:r>
              <a:rPr sz="1100" b="0" i="0">
                <a:solidFill>
                  <a:srgbClr val="5A6B76"/>
                </a:solidFill>
                <a:latin typeface="Calibri"/>
              </a:rPr>
              <a:t>Professional judgment stays with you</a:t>
            </a:r>
          </a:p>
        </p:txBody>
      </p:sp>
      <p:sp>
        <p:nvSpPr>
          <p:cNvPr id="12" name="Rectangle 11"/>
          <p:cNvSpPr/>
          <p:nvPr/>
        </p:nvSpPr>
        <p:spPr>
          <a:xfrm>
            <a:off x="9226296" y="3794760"/>
            <a:ext cx="2743200" cy="1554480"/>
          </a:xfrm>
          <a:prstGeom prst="rect">
            <a:avLst/>
          </a:prstGeom>
          <a:solidFill>
            <a:srgbClr val="FFFFFF"/>
          </a:solidFill>
          <a:ln w="9525">
            <a:solidFill>
              <a:srgbClr val="D5DDE2"/>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600" b="1" i="0">
                <a:solidFill>
                  <a:srgbClr val="0E2A47"/>
                </a:solidFill>
                <a:latin typeface="Calibri"/>
              </a:rPr>
              <a:t>8   </a:t>
            </a:r>
            <a:r>
              <a:rPr sz="1500" b="1" i="0">
                <a:solidFill>
                  <a:srgbClr val="0E2A47"/>
                </a:solidFill>
                <a:latin typeface="Calibri"/>
              </a:rPr>
              <a:t>Excel report</a:t>
            </a:r>
          </a:p>
          <a:p>
            <a:pPr>
              <a:spcBef>
                <a:spcPts val="400"/>
              </a:spcBef>
            </a:pPr>
            <a:r>
              <a:rPr sz="1100" b="0" i="0">
                <a:solidFill>
                  <a:srgbClr val="5A6B76"/>
                </a:solidFill>
                <a:latin typeface="Calibri"/>
              </a:rPr>
              <a:t>Generated, ready for the physician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320040"/>
          </a:xfrm>
          <a:prstGeom prst="rect">
            <a:avLst/>
          </a:prstGeom>
          <a:noFill/>
        </p:spPr>
        <p:txBody>
          <a:bodyPr wrap="square">
            <a:spAutoFit/>
          </a:bodyPr>
          <a:lstStyle/>
          <a:p>
            <a:r>
              <a:rPr sz="1100" b="1" i="0">
                <a:solidFill>
                  <a:srgbClr val="128C7E"/>
                </a:solidFill>
                <a:latin typeface="Calibri"/>
              </a:rPr>
              <a:t>MONTH-END RECONCILIATION AGENT</a:t>
            </a:r>
          </a:p>
        </p:txBody>
      </p:sp>
      <p:sp>
        <p:nvSpPr>
          <p:cNvPr id="4" name="TextBox 3"/>
          <p:cNvSpPr txBox="1"/>
          <p:nvPr/>
        </p:nvSpPr>
        <p:spPr>
          <a:xfrm>
            <a:off x="548640" y="640080"/>
            <a:ext cx="11064240" cy="822960"/>
          </a:xfrm>
          <a:prstGeom prst="rect">
            <a:avLst/>
          </a:prstGeom>
          <a:noFill/>
        </p:spPr>
        <p:txBody>
          <a:bodyPr wrap="square">
            <a:spAutoFit/>
          </a:bodyPr>
          <a:lstStyle/>
          <a:p>
            <a:r>
              <a:rPr sz="3000" b="1" i="0">
                <a:solidFill>
                  <a:srgbClr val="0E2A47"/>
                </a:solidFill>
                <a:latin typeface="Calibri"/>
              </a:rPr>
              <a:t>It handles the messy real world</a:t>
            </a:r>
          </a:p>
        </p:txBody>
      </p:sp>
      <p:sp>
        <p:nvSpPr>
          <p:cNvPr id="5" name="TextBox 4"/>
          <p:cNvSpPr txBox="1"/>
          <p:nvPr/>
        </p:nvSpPr>
        <p:spPr>
          <a:xfrm>
            <a:off x="640080" y="1737360"/>
            <a:ext cx="10972800" cy="4572000"/>
          </a:xfrm>
          <a:prstGeom prst="rect">
            <a:avLst/>
          </a:prstGeom>
          <a:noFill/>
        </p:spPr>
        <p:txBody>
          <a:bodyPr wrap="square">
            <a:spAutoFit/>
          </a:bodyPr>
          <a:lstStyle/>
          <a:p>
            <a:pPr>
              <a:spcAft>
                <a:spcPts val="1000"/>
              </a:spcAft>
            </a:pPr>
            <a:r>
              <a:rPr sz="1900" b="1" i="0">
                <a:solidFill>
                  <a:srgbClr val="128C7E"/>
                </a:solidFill>
                <a:latin typeface="Calibri"/>
              </a:rPr>
              <a:t>•  </a:t>
            </a:r>
            <a:r>
              <a:rPr sz="1900" b="0" i="0">
                <a:solidFill>
                  <a:srgbClr val="1B2A33"/>
                </a:solidFill>
                <a:latin typeface="Calibri"/>
              </a:rPr>
              <a:t>One insurance deposit that covers dozens of patient claims</a:t>
            </a:r>
          </a:p>
          <a:p>
            <a:pPr>
              <a:spcAft>
                <a:spcPts val="1000"/>
              </a:spcAft>
            </a:pPr>
            <a:r>
              <a:rPr sz="1900" b="1" i="0">
                <a:solidFill>
                  <a:srgbClr val="128C7E"/>
                </a:solidFill>
                <a:latin typeface="Calibri"/>
              </a:rPr>
              <a:t>•  </a:t>
            </a:r>
            <a:r>
              <a:rPr sz="1900" b="0" i="0">
                <a:solidFill>
                  <a:srgbClr val="1B2A33"/>
                </a:solidFill>
                <a:latin typeface="Calibri"/>
              </a:rPr>
              <a:t>A card-processor batch that bundles many copays into one deposit</a:t>
            </a:r>
          </a:p>
          <a:p>
            <a:pPr>
              <a:spcAft>
                <a:spcPts val="1000"/>
              </a:spcAft>
            </a:pPr>
            <a:r>
              <a:rPr sz="1900" b="1" i="0">
                <a:solidFill>
                  <a:srgbClr val="128C7E"/>
                </a:solidFill>
                <a:latin typeface="Calibri"/>
              </a:rPr>
              <a:t>•  </a:t>
            </a:r>
            <a:r>
              <a:rPr sz="1900" b="0" i="0">
                <a:solidFill>
                  <a:srgbClr val="1B2A33"/>
                </a:solidFill>
                <a:latin typeface="Calibri"/>
              </a:rPr>
              <a:t>Payor takebacks that reduce a deposit</a:t>
            </a:r>
          </a:p>
          <a:p>
            <a:pPr>
              <a:spcAft>
                <a:spcPts val="1000"/>
              </a:spcAft>
            </a:pPr>
            <a:r>
              <a:rPr sz="1900" b="1" i="0">
                <a:solidFill>
                  <a:srgbClr val="128C7E"/>
                </a:solidFill>
                <a:latin typeface="Calibri"/>
              </a:rPr>
              <a:t>•  </a:t>
            </a:r>
            <a:r>
              <a:rPr sz="1900" b="0" i="0">
                <a:solidFill>
                  <a:srgbClr val="1B2A33"/>
                </a:solidFill>
                <a:latin typeface="Calibri"/>
              </a:rPr>
              <a:t>The few-day lag between a recorded deposit and when it clears the bank</a:t>
            </a:r>
          </a:p>
          <a:p>
            <a:pPr>
              <a:spcAft>
                <a:spcPts val="1000"/>
              </a:spcAft>
            </a:pPr>
            <a:r>
              <a:rPr sz="1900" b="1" i="0">
                <a:solidFill>
                  <a:srgbClr val="128C7E"/>
                </a:solidFill>
                <a:latin typeface="Calibri"/>
              </a:rPr>
              <a:t>•  </a:t>
            </a:r>
            <a:r>
              <a:rPr sz="1900" b="0" i="0">
                <a:solidFill>
                  <a:srgbClr val="1B2A33"/>
                </a:solidFill>
                <a:latin typeface="Calibri"/>
              </a:rPr>
              <a:t>Bank fees, payroll, outstanding checks, and missing remittances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320040"/>
          </a:xfrm>
          <a:prstGeom prst="rect">
            <a:avLst/>
          </a:prstGeom>
          <a:noFill/>
        </p:spPr>
        <p:txBody>
          <a:bodyPr wrap="square">
            <a:spAutoFit/>
          </a:bodyPr>
          <a:lstStyle/>
          <a:p>
            <a:r>
              <a:rPr sz="1100" b="1" i="0">
                <a:solidFill>
                  <a:srgbClr val="128C7E"/>
                </a:solidFill>
                <a:latin typeface="Calibri"/>
              </a:rPr>
              <a:t>MONTH-END RECONCILIATION AGENT</a:t>
            </a:r>
          </a:p>
        </p:txBody>
      </p:sp>
      <p:sp>
        <p:nvSpPr>
          <p:cNvPr id="4" name="TextBox 3"/>
          <p:cNvSpPr txBox="1"/>
          <p:nvPr/>
        </p:nvSpPr>
        <p:spPr>
          <a:xfrm>
            <a:off x="548640" y="640080"/>
            <a:ext cx="11064240" cy="822960"/>
          </a:xfrm>
          <a:prstGeom prst="rect">
            <a:avLst/>
          </a:prstGeom>
          <a:noFill/>
        </p:spPr>
        <p:txBody>
          <a:bodyPr wrap="square">
            <a:spAutoFit/>
          </a:bodyPr>
          <a:lstStyle/>
          <a:p>
            <a:r>
              <a:rPr sz="3000" b="1" i="0">
                <a:solidFill>
                  <a:srgbClr val="0E2A47"/>
                </a:solidFill>
                <a:latin typeface="Calibri"/>
              </a:rPr>
              <a:t>You investigate by simply asking</a:t>
            </a:r>
          </a:p>
        </p:txBody>
      </p:sp>
      <p:sp>
        <p:nvSpPr>
          <p:cNvPr id="5" name="Rectangle 4"/>
          <p:cNvSpPr/>
          <p:nvPr/>
        </p:nvSpPr>
        <p:spPr>
          <a:xfrm>
            <a:off x="640080" y="1828800"/>
            <a:ext cx="7772400" cy="86868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800" b="0" i="1">
                <a:solidFill>
                  <a:srgbClr val="FFFFFF"/>
                </a:solidFill>
                <a:latin typeface="Calibri"/>
              </a:rPr>
              <a:t>You:  “Why is this $4,812 deposit unmatched?”</a:t>
            </a:r>
          </a:p>
        </p:txBody>
      </p:sp>
      <p:sp>
        <p:nvSpPr>
          <p:cNvPr id="6" name="Rectangle 5"/>
          <p:cNvSpPr/>
          <p:nvPr/>
        </p:nvSpPr>
        <p:spPr>
          <a:xfrm>
            <a:off x="2286000" y="2880360"/>
            <a:ext cx="9235440" cy="1371600"/>
          </a:xfrm>
          <a:prstGeom prst="rect">
            <a:avLst/>
          </a:prstGeom>
          <a:solidFill>
            <a:srgbClr val="E7F1EF"/>
          </a:solidFill>
          <a:ln w="15875">
            <a:solidFill>
              <a:srgbClr val="128C7E"/>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800" b="1" i="0">
                <a:solidFill>
                  <a:srgbClr val="128C7E"/>
                </a:solidFill>
                <a:latin typeface="Calibri"/>
              </a:rPr>
              <a:t>Agent:  </a:t>
            </a:r>
            <a:r>
              <a:rPr sz="1800" b="0" i="1">
                <a:solidFill>
                  <a:srgbClr val="1B2A33"/>
                </a:solidFill>
                <a:latin typeface="Calibri"/>
              </a:rPr>
              <a:t>“It's the Aetna ERA for $4,900, reduced by an $87.67 recoupment on claim #123. The remittance arrived on the 14th. Shall I record the match?”</a:t>
            </a:r>
          </a:p>
        </p:txBody>
      </p:sp>
      <p:sp>
        <p:nvSpPr>
          <p:cNvPr id="7" name="TextBox 6"/>
          <p:cNvSpPr txBox="1"/>
          <p:nvPr/>
        </p:nvSpPr>
        <p:spPr>
          <a:xfrm>
            <a:off x="640080" y="4572000"/>
            <a:ext cx="10972800" cy="4572000"/>
          </a:xfrm>
          <a:prstGeom prst="rect">
            <a:avLst/>
          </a:prstGeom>
          <a:noFill/>
        </p:spPr>
        <p:txBody>
          <a:bodyPr wrap="square">
            <a:spAutoFit/>
          </a:bodyPr>
          <a:lstStyle/>
          <a:p>
            <a:pPr>
              <a:spcAft>
                <a:spcPts val="1000"/>
              </a:spcAft>
            </a:pPr>
            <a:r>
              <a:rPr sz="1700" b="1" i="0">
                <a:solidFill>
                  <a:srgbClr val="128C7E"/>
                </a:solidFill>
                <a:latin typeface="Calibri"/>
              </a:rPr>
              <a:t>•  </a:t>
            </a:r>
            <a:r>
              <a:rPr sz="1700" b="0" i="0">
                <a:solidFill>
                  <a:srgbClr val="1B2A33"/>
                </a:solidFill>
                <a:latin typeface="Calibri"/>
              </a:rPr>
              <a:t>Plain-language investigation of any exception</a:t>
            </a:r>
          </a:p>
          <a:p>
            <a:pPr>
              <a:spcAft>
                <a:spcPts val="1000"/>
              </a:spcAft>
            </a:pPr>
            <a:r>
              <a:rPr sz="1700" b="1" i="0">
                <a:solidFill>
                  <a:srgbClr val="128C7E"/>
                </a:solidFill>
                <a:latin typeface="Calibri"/>
              </a:rPr>
              <a:t>•  </a:t>
            </a:r>
            <a:r>
              <a:rPr sz="1700" b="0" i="0">
                <a:solidFill>
                  <a:srgbClr val="1B2A33"/>
                </a:solidFill>
                <a:latin typeface="Calibri"/>
              </a:rPr>
              <a:t>The agent proposes a resolution and explains its reasoning</a:t>
            </a:r>
          </a:p>
          <a:p>
            <a:pPr>
              <a:spcAft>
                <a:spcPts val="1000"/>
              </a:spcAft>
            </a:pPr>
            <a:r>
              <a:rPr sz="1700" b="1" i="0">
                <a:solidFill>
                  <a:srgbClr val="128C7E"/>
                </a:solidFill>
                <a:latin typeface="Calibri"/>
              </a:rPr>
              <a:t>•  </a:t>
            </a:r>
            <a:r>
              <a:rPr sz="1700" b="0" i="0">
                <a:solidFill>
                  <a:srgbClr val="1B2A33"/>
                </a:solidFill>
                <a:latin typeface="Calibri"/>
              </a:rPr>
              <a:t>You accept, reject, or ask follow-ups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320040"/>
          </a:xfrm>
          <a:prstGeom prst="rect">
            <a:avLst/>
          </a:prstGeom>
          <a:noFill/>
        </p:spPr>
        <p:txBody>
          <a:bodyPr wrap="square">
            <a:spAutoFit/>
          </a:bodyPr>
          <a:lstStyle/>
          <a:p>
            <a:r>
              <a:rPr sz="1100" b="1" i="0">
                <a:solidFill>
                  <a:srgbClr val="128C7E"/>
                </a:solidFill>
                <a:latin typeface="Calibri"/>
              </a:rPr>
              <a:t>MONTH-END RECONCILIATION AGENT</a:t>
            </a:r>
          </a:p>
        </p:txBody>
      </p:sp>
      <p:sp>
        <p:nvSpPr>
          <p:cNvPr id="4" name="TextBox 3"/>
          <p:cNvSpPr txBox="1"/>
          <p:nvPr/>
        </p:nvSpPr>
        <p:spPr>
          <a:xfrm>
            <a:off x="548640" y="640080"/>
            <a:ext cx="11064240" cy="822960"/>
          </a:xfrm>
          <a:prstGeom prst="rect">
            <a:avLst/>
          </a:prstGeom>
          <a:noFill/>
        </p:spPr>
        <p:txBody>
          <a:bodyPr wrap="square">
            <a:spAutoFit/>
          </a:bodyPr>
          <a:lstStyle/>
          <a:p>
            <a:r>
              <a:rPr sz="3000" b="1" i="0">
                <a:solidFill>
                  <a:srgbClr val="0E2A47"/>
                </a:solidFill>
                <a:latin typeface="Calibri"/>
              </a:rPr>
              <a:t>Where humans stay in control</a:t>
            </a:r>
          </a:p>
        </p:txBody>
      </p:sp>
      <p:graphicFrame>
        <p:nvGraphicFramePr>
          <p:cNvPr id="5" name="Table 4"/>
          <p:cNvGraphicFramePr>
            <a:graphicFrameLocks noGrp="1"/>
          </p:cNvGraphicFramePr>
          <p:nvPr/>
        </p:nvGraphicFramePr>
        <p:xfrm>
          <a:off x="640080" y="1828800"/>
          <a:ext cx="10972800" cy="3657600"/>
        </p:xfrm>
        <a:graphic>
          <a:graphicData uri="http://schemas.openxmlformats.org/drawingml/2006/table">
            <a:tbl>
              <a:tblPr firstRow="1" bandRow="1">
                <a:tableStyleId>{5C22544A-7EE6-4342-B048-85BDC9FD1C3A}</a:tableStyleId>
              </a:tblPr>
              <a:tblGrid>
                <a:gridCol w="5669280"/>
                <a:gridCol w="5303520"/>
              </a:tblGrid>
              <a:tr h="731520">
                <a:tc>
                  <a:txBody>
                    <a:bodyPr/>
                    <a:lstStyle/>
                    <a:p>
                      <a:r>
                        <a:rPr sz="1500" b="1" i="0">
                          <a:solidFill>
                            <a:srgbClr val="FFFFFF"/>
                          </a:solidFill>
                          <a:latin typeface="Calibri"/>
                        </a:rPr>
                        <a:t>✋  Checkpoint</a:t>
                      </a:r>
                    </a:p>
                  </a:txBody>
                  <a:tcPr marL="137160" marT="73152" marB="73152" anchor="ctr">
                    <a:solidFill>
                      <a:srgbClr val="0E2A47"/>
                    </a:solidFill>
                  </a:tcPr>
                </a:tc>
                <a:tc>
                  <a:txBody>
                    <a:bodyPr/>
                    <a:lstStyle/>
                    <a:p>
                      <a:r>
                        <a:rPr sz="1500" b="1" i="0">
                          <a:solidFill>
                            <a:srgbClr val="FFFFFF"/>
                          </a:solidFill>
                          <a:latin typeface="Calibri"/>
                        </a:rPr>
                        <a:t>Why it matters</a:t>
                      </a:r>
                    </a:p>
                  </a:txBody>
                  <a:tcPr marL="137160" marT="73152" marB="73152" anchor="ctr">
                    <a:solidFill>
                      <a:srgbClr val="0E2A47"/>
                    </a:solidFill>
                  </a:tcPr>
                </a:tc>
              </a:tr>
              <a:tr h="731520">
                <a:tc>
                  <a:txBody>
                    <a:bodyPr/>
                    <a:lstStyle/>
                    <a:p>
                      <a:r>
                        <a:rPr sz="1400" b="1" i="0">
                          <a:solidFill>
                            <a:srgbClr val="1B2A33"/>
                          </a:solidFill>
                          <a:latin typeface="Calibri"/>
                        </a:rPr>
                        <a:t>Confirm the month's documents are complete</a:t>
                      </a:r>
                    </a:p>
                  </a:txBody>
                  <a:tcPr marL="137160" marT="73152" marB="73152" anchor="ctr">
                    <a:solidFill>
                      <a:srgbClr val="FFFFFF"/>
                    </a:solidFill>
                  </a:tcPr>
                </a:tc>
                <a:tc>
                  <a:txBody>
                    <a:bodyPr/>
                    <a:lstStyle/>
                    <a:p>
                      <a:r>
                        <a:rPr sz="1400" b="0" i="0">
                          <a:solidFill>
                            <a:srgbClr val="1B2A33"/>
                          </a:solidFill>
                          <a:latin typeface="Calibri"/>
                        </a:rPr>
                        <a:t>Don't reconcile on a partial picture</a:t>
                      </a:r>
                    </a:p>
                  </a:txBody>
                  <a:tcPr marL="137160" marT="73152" marB="73152" anchor="ctr">
                    <a:solidFill>
                      <a:srgbClr val="FFFFFF"/>
                    </a:solidFill>
                  </a:tcPr>
                </a:tc>
              </a:tr>
              <a:tr h="731520">
                <a:tc>
                  <a:txBody>
                    <a:bodyPr/>
                    <a:lstStyle/>
                    <a:p>
                      <a:r>
                        <a:rPr sz="1400" b="1" i="0">
                          <a:solidFill>
                            <a:srgbClr val="1B2A33"/>
                          </a:solidFill>
                          <a:latin typeface="Calibri"/>
                        </a:rPr>
                        <a:t>Approve large or low-confidence matches</a:t>
                      </a:r>
                    </a:p>
                  </a:txBody>
                  <a:tcPr marL="137160" marT="73152" marB="73152" anchor="ctr">
                    <a:solidFill>
                      <a:srgbClr val="E7F1EF"/>
                    </a:solidFill>
                  </a:tcPr>
                </a:tc>
                <a:tc>
                  <a:txBody>
                    <a:bodyPr/>
                    <a:lstStyle/>
                    <a:p>
                      <a:r>
                        <a:rPr sz="1400" b="0" i="0">
                          <a:solidFill>
                            <a:srgbClr val="1B2A33"/>
                          </a:solidFill>
                          <a:latin typeface="Calibri"/>
                        </a:rPr>
                        <a:t>A person verifies anything material or uncertain</a:t>
                      </a:r>
                    </a:p>
                  </a:txBody>
                  <a:tcPr marL="137160" marT="73152" marB="73152" anchor="ctr">
                    <a:solidFill>
                      <a:srgbClr val="E7F1EF"/>
                    </a:solidFill>
                  </a:tcPr>
                </a:tc>
              </a:tr>
              <a:tr h="731520">
                <a:tc>
                  <a:txBody>
                    <a:bodyPr/>
                    <a:lstStyle/>
                    <a:p>
                      <a:r>
                        <a:rPr sz="1400" b="1" i="0">
                          <a:solidFill>
                            <a:srgbClr val="1B2A33"/>
                          </a:solidFill>
                          <a:latin typeface="Calibri"/>
                        </a:rPr>
                        <a:t>Approve exception resolutions</a:t>
                      </a:r>
                    </a:p>
                  </a:txBody>
                  <a:tcPr marL="137160" marT="73152" marB="73152" anchor="ctr">
                    <a:solidFill>
                      <a:srgbClr val="FFFFFF"/>
                    </a:solidFill>
                  </a:tcPr>
                </a:tc>
                <a:tc>
                  <a:txBody>
                    <a:bodyPr/>
                    <a:lstStyle/>
                    <a:p>
                      <a:r>
                        <a:rPr sz="1400" b="0" i="0">
                          <a:solidFill>
                            <a:srgbClr val="1B2A33"/>
                          </a:solidFill>
                          <a:latin typeface="Calibri"/>
                        </a:rPr>
                        <a:t>Adjustments and write-offs are human decisions</a:t>
                      </a:r>
                    </a:p>
                  </a:txBody>
                  <a:tcPr marL="137160" marT="73152" marB="73152" anchor="ctr">
                    <a:solidFill>
                      <a:srgbClr val="FFFFFF"/>
                    </a:solidFill>
                  </a:tcPr>
                </a:tc>
              </a:tr>
              <a:tr h="731520">
                <a:tc>
                  <a:txBody>
                    <a:bodyPr/>
                    <a:lstStyle/>
                    <a:p>
                      <a:r>
                        <a:rPr sz="1400" b="1" i="0">
                          <a:solidFill>
                            <a:srgbClr val="1B2A33"/>
                          </a:solidFill>
                          <a:latin typeface="Calibri"/>
                        </a:rPr>
                        <a:t>Final sign-off before the report goes out</a:t>
                      </a:r>
                    </a:p>
                  </a:txBody>
                  <a:tcPr marL="137160" marT="73152" marB="73152" anchor="ctr">
                    <a:solidFill>
                      <a:srgbClr val="E7F1EF"/>
                    </a:solidFill>
                  </a:tcPr>
                </a:tc>
                <a:tc>
                  <a:txBody>
                    <a:bodyPr/>
                    <a:lstStyle/>
                    <a:p>
                      <a:r>
                        <a:rPr sz="1400" b="0" i="0">
                          <a:solidFill>
                            <a:srgbClr val="1B2A33"/>
                          </a:solidFill>
                          <a:latin typeface="Calibri"/>
                        </a:rPr>
                        <a:t>Professional judgment stays with the accountant</a:t>
                      </a:r>
                    </a:p>
                  </a:txBody>
                  <a:tcPr marL="137160" marT="73152" marB="73152" anchor="ctr">
                    <a:solidFill>
                      <a:srgbClr val="E7F1E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320040"/>
          </a:xfrm>
          <a:prstGeom prst="rect">
            <a:avLst/>
          </a:prstGeom>
          <a:noFill/>
        </p:spPr>
        <p:txBody>
          <a:bodyPr wrap="square">
            <a:spAutoFit/>
          </a:bodyPr>
          <a:lstStyle/>
          <a:p>
            <a:r>
              <a:rPr sz="1100" b="1" i="0">
                <a:solidFill>
                  <a:srgbClr val="128C7E"/>
                </a:solidFill>
                <a:latin typeface="Calibri"/>
              </a:rPr>
              <a:t>MONTH-END RECONCILIATION AGENT</a:t>
            </a:r>
          </a:p>
        </p:txBody>
      </p:sp>
      <p:sp>
        <p:nvSpPr>
          <p:cNvPr id="4" name="TextBox 3"/>
          <p:cNvSpPr txBox="1"/>
          <p:nvPr/>
        </p:nvSpPr>
        <p:spPr>
          <a:xfrm>
            <a:off x="548640" y="640080"/>
            <a:ext cx="11064240" cy="822960"/>
          </a:xfrm>
          <a:prstGeom prst="rect">
            <a:avLst/>
          </a:prstGeom>
          <a:noFill/>
        </p:spPr>
        <p:txBody>
          <a:bodyPr wrap="square">
            <a:spAutoFit/>
          </a:bodyPr>
          <a:lstStyle/>
          <a:p>
            <a:r>
              <a:rPr sz="3000" b="1" i="0">
                <a:solidFill>
                  <a:srgbClr val="0E2A47"/>
                </a:solidFill>
                <a:latin typeface="Calibri"/>
              </a:rPr>
              <a:t>Why you can trust the numbers</a:t>
            </a:r>
          </a:p>
        </p:txBody>
      </p:sp>
      <p:sp>
        <p:nvSpPr>
          <p:cNvPr id="5" name="Rectangle 4"/>
          <p:cNvSpPr/>
          <p:nvPr/>
        </p:nvSpPr>
        <p:spPr>
          <a:xfrm>
            <a:off x="640080" y="2011680"/>
            <a:ext cx="5349240" cy="1737360"/>
          </a:xfrm>
          <a:prstGeom prst="rect">
            <a:avLst/>
          </a:prstGeom>
          <a:solidFill>
            <a:srgbClr val="FFFFFF"/>
          </a:solidFill>
          <a:ln w="12700">
            <a:solidFill>
              <a:srgbClr val="128C7E"/>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r>
              <a:rPr sz="1900" b="1" i="0">
                <a:solidFill>
                  <a:srgbClr val="0E2A47"/>
                </a:solidFill>
                <a:latin typeface="Calibri"/>
              </a:rPr>
              <a:t>Deterministic &amp; repeatable</a:t>
            </a:r>
          </a:p>
          <a:p>
            <a:pPr>
              <a:spcBef>
                <a:spcPts val="600"/>
              </a:spcBef>
            </a:pPr>
            <a:r>
              <a:rPr sz="1400" b="0" i="0">
                <a:solidFill>
                  <a:srgbClr val="5A6B76"/>
                </a:solidFill>
                <a:latin typeface="Calibri"/>
              </a:rPr>
              <a:t>Same inputs, same result, every time</a:t>
            </a:r>
          </a:p>
        </p:txBody>
      </p:sp>
      <p:sp>
        <p:nvSpPr>
          <p:cNvPr id="6" name="Rectangle 5"/>
          <p:cNvSpPr/>
          <p:nvPr/>
        </p:nvSpPr>
        <p:spPr>
          <a:xfrm>
            <a:off x="640080" y="2011680"/>
            <a:ext cx="109728" cy="1737360"/>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63640" y="2011680"/>
            <a:ext cx="5349240" cy="1737360"/>
          </a:xfrm>
          <a:prstGeom prst="rect">
            <a:avLst/>
          </a:prstGeom>
          <a:solidFill>
            <a:srgbClr val="FFFFFF"/>
          </a:solidFill>
          <a:ln w="12700">
            <a:solidFill>
              <a:srgbClr val="128C7E"/>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r>
              <a:rPr sz="1900" b="1" i="0">
                <a:solidFill>
                  <a:srgbClr val="0E2A47"/>
                </a:solidFill>
                <a:latin typeface="Calibri"/>
              </a:rPr>
              <a:t>Fully traceable</a:t>
            </a:r>
          </a:p>
          <a:p>
            <a:pPr>
              <a:spcBef>
                <a:spcPts val="600"/>
              </a:spcBef>
            </a:pPr>
            <a:r>
              <a:rPr sz="1400" b="0" i="0">
                <a:solidFill>
                  <a:srgbClr val="5A6B76"/>
                </a:solidFill>
                <a:latin typeface="Calibri"/>
              </a:rPr>
              <a:t>Every figure links to its source document</a:t>
            </a:r>
          </a:p>
        </p:txBody>
      </p:sp>
      <p:sp>
        <p:nvSpPr>
          <p:cNvPr id="8" name="Rectangle 7"/>
          <p:cNvSpPr/>
          <p:nvPr/>
        </p:nvSpPr>
        <p:spPr>
          <a:xfrm>
            <a:off x="6263640" y="2011680"/>
            <a:ext cx="109728" cy="1737360"/>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4114800"/>
            <a:ext cx="5349240" cy="1737360"/>
          </a:xfrm>
          <a:prstGeom prst="rect">
            <a:avLst/>
          </a:prstGeom>
          <a:solidFill>
            <a:srgbClr val="FFFFFF"/>
          </a:solidFill>
          <a:ln w="12700">
            <a:solidFill>
              <a:srgbClr val="128C7E"/>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r>
              <a:rPr sz="1900" b="1" i="0">
                <a:solidFill>
                  <a:srgbClr val="0E2A47"/>
                </a:solidFill>
                <a:latin typeface="Calibri"/>
              </a:rPr>
              <a:t>Completely logged</a:t>
            </a:r>
          </a:p>
          <a:p>
            <a:pPr>
              <a:spcBef>
                <a:spcPts val="600"/>
              </a:spcBef>
            </a:pPr>
            <a:r>
              <a:rPr sz="1400" b="0" i="0">
                <a:solidFill>
                  <a:srgbClr val="5A6B76"/>
                </a:solidFill>
                <a:latin typeface="Calibri"/>
              </a:rPr>
              <a:t>Every read, match, approval, and override is recorded</a:t>
            </a:r>
          </a:p>
        </p:txBody>
      </p:sp>
      <p:sp>
        <p:nvSpPr>
          <p:cNvPr id="10" name="Rectangle 9"/>
          <p:cNvSpPr/>
          <p:nvPr/>
        </p:nvSpPr>
        <p:spPr>
          <a:xfrm>
            <a:off x="640080" y="4114800"/>
            <a:ext cx="109728" cy="1737360"/>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4114800"/>
            <a:ext cx="5349240" cy="1737360"/>
          </a:xfrm>
          <a:prstGeom prst="rect">
            <a:avLst/>
          </a:prstGeom>
          <a:solidFill>
            <a:srgbClr val="FFFFFF"/>
          </a:solidFill>
          <a:ln w="12700">
            <a:solidFill>
              <a:srgbClr val="128C7E"/>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r>
              <a:rPr sz="1900" b="1" i="0">
                <a:solidFill>
                  <a:srgbClr val="0E2A47"/>
                </a:solidFill>
                <a:latin typeface="Calibri"/>
              </a:rPr>
              <a:t>Nothing dropped silently</a:t>
            </a:r>
          </a:p>
          <a:p>
            <a:pPr>
              <a:spcBef>
                <a:spcPts val="600"/>
              </a:spcBef>
            </a:pPr>
            <a:r>
              <a:rPr sz="1400" b="0" i="0">
                <a:solidFill>
                  <a:srgbClr val="5A6B76"/>
                </a:solidFill>
                <a:latin typeface="Calibri"/>
              </a:rPr>
              <a:t>Unmatched items become visible exceptions</a:t>
            </a:r>
          </a:p>
        </p:txBody>
      </p:sp>
      <p:sp>
        <p:nvSpPr>
          <p:cNvPr id="12" name="Rectangle 11"/>
          <p:cNvSpPr/>
          <p:nvPr/>
        </p:nvSpPr>
        <p:spPr>
          <a:xfrm>
            <a:off x="6263640" y="4114800"/>
            <a:ext cx="109728" cy="1737360"/>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320040"/>
          </a:xfrm>
          <a:prstGeom prst="rect">
            <a:avLst/>
          </a:prstGeom>
          <a:noFill/>
        </p:spPr>
        <p:txBody>
          <a:bodyPr wrap="square">
            <a:spAutoFit/>
          </a:bodyPr>
          <a:lstStyle/>
          <a:p>
            <a:r>
              <a:rPr sz="1100" b="1" i="0">
                <a:solidFill>
                  <a:srgbClr val="128C7E"/>
                </a:solidFill>
                <a:latin typeface="Calibri"/>
              </a:rPr>
              <a:t>MONTH-END RECONCILIATION AGENT</a:t>
            </a:r>
          </a:p>
        </p:txBody>
      </p:sp>
      <p:sp>
        <p:nvSpPr>
          <p:cNvPr id="4" name="TextBox 3"/>
          <p:cNvSpPr txBox="1"/>
          <p:nvPr/>
        </p:nvSpPr>
        <p:spPr>
          <a:xfrm>
            <a:off x="548640" y="640080"/>
            <a:ext cx="11064240" cy="822960"/>
          </a:xfrm>
          <a:prstGeom prst="rect">
            <a:avLst/>
          </a:prstGeom>
          <a:noFill/>
        </p:spPr>
        <p:txBody>
          <a:bodyPr wrap="square">
            <a:spAutoFit/>
          </a:bodyPr>
          <a:lstStyle/>
          <a:p>
            <a:r>
              <a:rPr sz="3000" b="1" i="0">
                <a:solidFill>
                  <a:srgbClr val="0E2A47"/>
                </a:solidFill>
                <a:latin typeface="Calibri"/>
              </a:rPr>
              <a:t>Built for healthcare data</a:t>
            </a:r>
          </a:p>
        </p:txBody>
      </p:sp>
      <p:sp>
        <p:nvSpPr>
          <p:cNvPr id="5" name="TextBox 4"/>
          <p:cNvSpPr txBox="1"/>
          <p:nvPr/>
        </p:nvSpPr>
        <p:spPr>
          <a:xfrm>
            <a:off x="640080" y="1737360"/>
            <a:ext cx="10972800" cy="4572000"/>
          </a:xfrm>
          <a:prstGeom prst="rect">
            <a:avLst/>
          </a:prstGeom>
          <a:noFill/>
        </p:spPr>
        <p:txBody>
          <a:bodyPr wrap="square">
            <a:spAutoFit/>
          </a:bodyPr>
          <a:lstStyle/>
          <a:p>
            <a:pPr>
              <a:spcAft>
                <a:spcPts val="1000"/>
              </a:spcAft>
            </a:pPr>
            <a:r>
              <a:rPr sz="1900" b="1" i="0">
                <a:solidFill>
                  <a:srgbClr val="128C7E"/>
                </a:solidFill>
                <a:latin typeface="Calibri"/>
              </a:rPr>
              <a:t>•  </a:t>
            </a:r>
            <a:r>
              <a:rPr sz="1900" b="0" i="0">
                <a:solidFill>
                  <a:srgbClr val="1B2A33"/>
                </a:solidFill>
                <a:latin typeface="Calibri"/>
              </a:rPr>
              <a:t>Insurance remittances contain protected health information (PHI)</a:t>
            </a:r>
          </a:p>
          <a:p>
            <a:pPr>
              <a:spcAft>
                <a:spcPts val="1000"/>
              </a:spcAft>
            </a:pPr>
            <a:r>
              <a:rPr sz="1900" b="1" i="0">
                <a:solidFill>
                  <a:srgbClr val="128C7E"/>
                </a:solidFill>
                <a:latin typeface="Calibri"/>
              </a:rPr>
              <a:t>•  </a:t>
            </a:r>
            <a:r>
              <a:rPr sz="1900" b="0" i="0">
                <a:solidFill>
                  <a:srgbClr val="1B2A33"/>
                </a:solidFill>
                <a:latin typeface="Calibri"/>
              </a:rPr>
              <a:t>Each practice fully isolated as its own project</a:t>
            </a:r>
          </a:p>
          <a:p>
            <a:pPr>
              <a:spcAft>
                <a:spcPts val="1000"/>
              </a:spcAft>
            </a:pPr>
            <a:r>
              <a:rPr sz="1900" b="1" i="0">
                <a:solidFill>
                  <a:srgbClr val="128C7E"/>
                </a:solidFill>
                <a:latin typeface="Calibri"/>
              </a:rPr>
              <a:t>•  </a:t>
            </a:r>
            <a:r>
              <a:rPr sz="1900" b="0" i="0">
                <a:solidFill>
                  <a:srgbClr val="1B2A33"/>
                </a:solidFill>
                <a:latin typeface="Calibri"/>
              </a:rPr>
              <a:t>Documents encrypted; complete audit trail for compliance</a:t>
            </a:r>
          </a:p>
          <a:p>
            <a:pPr>
              <a:spcAft>
                <a:spcPts val="1000"/>
              </a:spcAft>
            </a:pPr>
            <a:r>
              <a:rPr sz="1900" b="1" i="0">
                <a:solidFill>
                  <a:srgbClr val="128C7E"/>
                </a:solidFill>
                <a:latin typeface="Calibri"/>
              </a:rPr>
              <a:t>•  </a:t>
            </a:r>
            <a:r>
              <a:rPr sz="1900" b="0" i="0">
                <a:solidFill>
                  <a:srgbClr val="1B2A33"/>
                </a:solidFill>
                <a:latin typeface="Calibri"/>
              </a:rPr>
              <a:t>AI used under a HIPAA-compliant arrangement — hosting kept flexible to fit your infrastructure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320040"/>
          </a:xfrm>
          <a:prstGeom prst="rect">
            <a:avLst/>
          </a:prstGeom>
          <a:noFill/>
        </p:spPr>
        <p:txBody>
          <a:bodyPr wrap="square">
            <a:spAutoFit/>
          </a:bodyPr>
          <a:lstStyle/>
          <a:p>
            <a:r>
              <a:rPr sz="1100" b="1" i="0">
                <a:solidFill>
                  <a:srgbClr val="128C7E"/>
                </a:solidFill>
                <a:latin typeface="Calibri"/>
              </a:rPr>
              <a:t>MONTH-END RECONCILIATION AGENT</a:t>
            </a:r>
          </a:p>
        </p:txBody>
      </p:sp>
      <p:sp>
        <p:nvSpPr>
          <p:cNvPr id="4" name="TextBox 3"/>
          <p:cNvSpPr txBox="1"/>
          <p:nvPr/>
        </p:nvSpPr>
        <p:spPr>
          <a:xfrm>
            <a:off x="548640" y="640080"/>
            <a:ext cx="11064240" cy="822960"/>
          </a:xfrm>
          <a:prstGeom prst="rect">
            <a:avLst/>
          </a:prstGeom>
          <a:noFill/>
        </p:spPr>
        <p:txBody>
          <a:bodyPr wrap="square">
            <a:spAutoFit/>
          </a:bodyPr>
          <a:lstStyle/>
          <a:p>
            <a:r>
              <a:rPr sz="3000" b="1" i="0">
                <a:solidFill>
                  <a:srgbClr val="0E2A47"/>
                </a:solidFill>
                <a:latin typeface="Calibri"/>
              </a:rPr>
              <a:t>The deliverable</a:t>
            </a:r>
          </a:p>
        </p:txBody>
      </p:sp>
      <p:sp>
        <p:nvSpPr>
          <p:cNvPr id="5" name="TextBox 4"/>
          <p:cNvSpPr txBox="1"/>
          <p:nvPr/>
        </p:nvSpPr>
        <p:spPr>
          <a:xfrm>
            <a:off x="640080" y="1691640"/>
            <a:ext cx="10972800" cy="457200"/>
          </a:xfrm>
          <a:prstGeom prst="rect">
            <a:avLst/>
          </a:prstGeom>
          <a:noFill/>
        </p:spPr>
        <p:txBody>
          <a:bodyPr wrap="square">
            <a:spAutoFit/>
          </a:bodyPr>
          <a:lstStyle/>
          <a:p>
            <a:r>
              <a:rPr sz="1800" b="1" i="0">
                <a:solidFill>
                  <a:srgbClr val="1B2A33"/>
                </a:solidFill>
                <a:latin typeface="Calibri"/>
              </a:rPr>
              <a:t>A structured Excel workbook — the same report you send physicians today:</a:t>
            </a:r>
          </a:p>
        </p:txBody>
      </p:sp>
      <p:sp>
        <p:nvSpPr>
          <p:cNvPr id="6" name="Rectangle 5"/>
          <p:cNvSpPr/>
          <p:nvPr/>
        </p:nvSpPr>
        <p:spPr>
          <a:xfrm>
            <a:off x="640080" y="2468880"/>
            <a:ext cx="3520440" cy="868680"/>
          </a:xfrm>
          <a:prstGeom prst="rect">
            <a:avLst/>
          </a:prstGeom>
          <a:solidFill>
            <a:srgbClr val="E7F1EF"/>
          </a:solidFill>
          <a:ln w="9525">
            <a:solidFill>
              <a:srgbClr val="128C7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500" b="1" i="0">
                <a:solidFill>
                  <a:srgbClr val="0E2A47"/>
                </a:solidFill>
                <a:latin typeface="Calibri"/>
              </a:rPr>
              <a:t>Summary &amp; sign-off</a:t>
            </a:r>
          </a:p>
        </p:txBody>
      </p:sp>
      <p:sp>
        <p:nvSpPr>
          <p:cNvPr id="7" name="Rectangle 6"/>
          <p:cNvSpPr/>
          <p:nvPr/>
        </p:nvSpPr>
        <p:spPr>
          <a:xfrm>
            <a:off x="4389120" y="2468880"/>
            <a:ext cx="3520440" cy="868680"/>
          </a:xfrm>
          <a:prstGeom prst="rect">
            <a:avLst/>
          </a:prstGeom>
          <a:solidFill>
            <a:srgbClr val="E7F1EF"/>
          </a:solidFill>
          <a:ln w="9525">
            <a:solidFill>
              <a:srgbClr val="128C7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500" b="1" i="0">
                <a:solidFill>
                  <a:srgbClr val="0E2A47"/>
                </a:solidFill>
                <a:latin typeface="Calibri"/>
              </a:rPr>
              <a:t>Formal bank reconciliation</a:t>
            </a:r>
          </a:p>
        </p:txBody>
      </p:sp>
      <p:sp>
        <p:nvSpPr>
          <p:cNvPr id="8" name="Rectangle 7"/>
          <p:cNvSpPr/>
          <p:nvPr/>
        </p:nvSpPr>
        <p:spPr>
          <a:xfrm>
            <a:off x="8138160" y="2468880"/>
            <a:ext cx="3520440" cy="868680"/>
          </a:xfrm>
          <a:prstGeom prst="rect">
            <a:avLst/>
          </a:prstGeom>
          <a:solidFill>
            <a:srgbClr val="E7F1EF"/>
          </a:solidFill>
          <a:ln w="9525">
            <a:solidFill>
              <a:srgbClr val="128C7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500" b="1" i="0">
                <a:solidFill>
                  <a:srgbClr val="0E2A47"/>
                </a:solidFill>
                <a:latin typeface="Calibri"/>
              </a:rPr>
              <a:t>Matched deposits</a:t>
            </a:r>
          </a:p>
        </p:txBody>
      </p:sp>
      <p:sp>
        <p:nvSpPr>
          <p:cNvPr id="9" name="Rectangle 8"/>
          <p:cNvSpPr/>
          <p:nvPr/>
        </p:nvSpPr>
        <p:spPr>
          <a:xfrm>
            <a:off x="640080" y="3611880"/>
            <a:ext cx="3520440" cy="868680"/>
          </a:xfrm>
          <a:prstGeom prst="rect">
            <a:avLst/>
          </a:prstGeom>
          <a:solidFill>
            <a:srgbClr val="E7F1EF"/>
          </a:solidFill>
          <a:ln w="9525">
            <a:solidFill>
              <a:srgbClr val="128C7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500" b="1" i="0">
                <a:solidFill>
                  <a:srgbClr val="0E2A47"/>
                </a:solidFill>
                <a:latin typeface="Calibri"/>
              </a:rPr>
              <a:t>Matched disbursements</a:t>
            </a:r>
          </a:p>
        </p:txBody>
      </p:sp>
      <p:sp>
        <p:nvSpPr>
          <p:cNvPr id="10" name="Rectangle 9"/>
          <p:cNvSpPr/>
          <p:nvPr/>
        </p:nvSpPr>
        <p:spPr>
          <a:xfrm>
            <a:off x="4389120" y="3611880"/>
            <a:ext cx="3520440" cy="868680"/>
          </a:xfrm>
          <a:prstGeom prst="rect">
            <a:avLst/>
          </a:prstGeom>
          <a:solidFill>
            <a:srgbClr val="E7F1EF"/>
          </a:solidFill>
          <a:ln w="9525">
            <a:solidFill>
              <a:srgbClr val="128C7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500" b="1" i="0">
                <a:solidFill>
                  <a:srgbClr val="0E2A47"/>
                </a:solidFill>
                <a:latin typeface="Calibri"/>
              </a:rPr>
              <a:t>Outstanding checks</a:t>
            </a:r>
          </a:p>
        </p:txBody>
      </p:sp>
      <p:sp>
        <p:nvSpPr>
          <p:cNvPr id="11" name="Rectangle 10"/>
          <p:cNvSpPr/>
          <p:nvPr/>
        </p:nvSpPr>
        <p:spPr>
          <a:xfrm>
            <a:off x="8138160" y="3611880"/>
            <a:ext cx="3520440" cy="868680"/>
          </a:xfrm>
          <a:prstGeom prst="rect">
            <a:avLst/>
          </a:prstGeom>
          <a:solidFill>
            <a:srgbClr val="E7F1EF"/>
          </a:solidFill>
          <a:ln w="9525">
            <a:solidFill>
              <a:srgbClr val="128C7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500" b="1" i="0">
                <a:solidFill>
                  <a:srgbClr val="0E2A47"/>
                </a:solidFill>
                <a:latin typeface="Calibri"/>
              </a:rPr>
              <a:t>Deposits in transit</a:t>
            </a:r>
          </a:p>
        </p:txBody>
      </p:sp>
      <p:sp>
        <p:nvSpPr>
          <p:cNvPr id="12" name="Rectangle 11"/>
          <p:cNvSpPr/>
          <p:nvPr/>
        </p:nvSpPr>
        <p:spPr>
          <a:xfrm>
            <a:off x="640080" y="4754880"/>
            <a:ext cx="3520440" cy="868680"/>
          </a:xfrm>
          <a:prstGeom prst="rect">
            <a:avLst/>
          </a:prstGeom>
          <a:solidFill>
            <a:srgbClr val="E7F1EF"/>
          </a:solidFill>
          <a:ln w="9525">
            <a:solidFill>
              <a:srgbClr val="128C7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500" b="1" i="0">
                <a:solidFill>
                  <a:srgbClr val="0E2A47"/>
                </a:solidFill>
                <a:latin typeface="Calibri"/>
              </a:rPr>
              <a:t>Exceptions &amp; resolutions</a:t>
            </a:r>
          </a:p>
        </p:txBody>
      </p:sp>
      <p:sp>
        <p:nvSpPr>
          <p:cNvPr id="13" name="Rectangle 12"/>
          <p:cNvSpPr/>
          <p:nvPr/>
        </p:nvSpPr>
        <p:spPr>
          <a:xfrm>
            <a:off x="4389120" y="4754880"/>
            <a:ext cx="3520440" cy="868680"/>
          </a:xfrm>
          <a:prstGeom prst="rect">
            <a:avLst/>
          </a:prstGeom>
          <a:solidFill>
            <a:srgbClr val="E7F1EF"/>
          </a:solidFill>
          <a:ln w="9525">
            <a:solidFill>
              <a:srgbClr val="128C7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500" b="1" i="0">
                <a:solidFill>
                  <a:srgbClr val="0E2A47"/>
                </a:solidFill>
                <a:latin typeface="Calibri"/>
              </a:rPr>
              <a:t>Source-document index</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320040"/>
          </a:xfrm>
          <a:prstGeom prst="rect">
            <a:avLst/>
          </a:prstGeom>
          <a:noFill/>
        </p:spPr>
        <p:txBody>
          <a:bodyPr wrap="square">
            <a:spAutoFit/>
          </a:bodyPr>
          <a:lstStyle/>
          <a:p>
            <a:r>
              <a:rPr sz="1100" b="1" i="0">
                <a:solidFill>
                  <a:srgbClr val="128C7E"/>
                </a:solidFill>
                <a:latin typeface="Calibri"/>
              </a:rPr>
              <a:t>MONTH-END RECONCILIATION AGENT</a:t>
            </a:r>
          </a:p>
        </p:txBody>
      </p:sp>
      <p:sp>
        <p:nvSpPr>
          <p:cNvPr id="4" name="TextBox 3"/>
          <p:cNvSpPr txBox="1"/>
          <p:nvPr/>
        </p:nvSpPr>
        <p:spPr>
          <a:xfrm>
            <a:off x="548640" y="640080"/>
            <a:ext cx="11064240" cy="822960"/>
          </a:xfrm>
          <a:prstGeom prst="rect">
            <a:avLst/>
          </a:prstGeom>
          <a:noFill/>
        </p:spPr>
        <p:txBody>
          <a:bodyPr wrap="square">
            <a:spAutoFit/>
          </a:bodyPr>
          <a:lstStyle/>
          <a:p>
            <a:r>
              <a:rPr sz="3000" b="1" i="0">
                <a:solidFill>
                  <a:srgbClr val="0E2A47"/>
                </a:solidFill>
                <a:latin typeface="Calibri"/>
              </a:rPr>
              <a:t>How we'd roll it out</a:t>
            </a:r>
          </a:p>
        </p:txBody>
      </p:sp>
      <p:sp>
        <p:nvSpPr>
          <p:cNvPr id="5" name="Rectangle 4"/>
          <p:cNvSpPr/>
          <p:nvPr/>
        </p:nvSpPr>
        <p:spPr>
          <a:xfrm>
            <a:off x="731520" y="1920240"/>
            <a:ext cx="822960" cy="822960"/>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i="0">
                <a:solidFill>
                  <a:srgbClr val="FFFFFF"/>
                </a:solidFill>
                <a:latin typeface="Calibri"/>
              </a:rPr>
              <a:t>1</a:t>
            </a:r>
          </a:p>
        </p:txBody>
      </p:sp>
      <p:sp>
        <p:nvSpPr>
          <p:cNvPr id="6" name="TextBox 5"/>
          <p:cNvSpPr txBox="1"/>
          <p:nvPr/>
        </p:nvSpPr>
        <p:spPr>
          <a:xfrm>
            <a:off x="1828800" y="1920240"/>
            <a:ext cx="9601200" cy="1097280"/>
          </a:xfrm>
          <a:prstGeom prst="rect">
            <a:avLst/>
          </a:prstGeom>
          <a:noFill/>
        </p:spPr>
        <p:txBody>
          <a:bodyPr wrap="square">
            <a:spAutoFit/>
          </a:bodyPr>
          <a:lstStyle/>
          <a:p>
            <a:r>
              <a:rPr sz="2000" b="1" i="0">
                <a:solidFill>
                  <a:srgbClr val="0E2A47"/>
                </a:solidFill>
                <a:latin typeface="Calibri"/>
              </a:rPr>
              <a:t>Pilot one practice, one month</a:t>
            </a:r>
          </a:p>
          <a:p>
            <a:pPr>
              <a:spcBef>
                <a:spcPts val="300"/>
              </a:spcBef>
            </a:pPr>
            <a:r>
              <a:rPr sz="1500" b="0" i="0">
                <a:solidFill>
                  <a:srgbClr val="5A6B76"/>
                </a:solidFill>
                <a:latin typeface="Calibri"/>
              </a:rPr>
              <a:t>Run alongside the current manual process and confirm the output matches</a:t>
            </a:r>
          </a:p>
        </p:txBody>
      </p:sp>
      <p:sp>
        <p:nvSpPr>
          <p:cNvPr id="7" name="Rectangle 6"/>
          <p:cNvSpPr/>
          <p:nvPr/>
        </p:nvSpPr>
        <p:spPr>
          <a:xfrm>
            <a:off x="731520" y="3291840"/>
            <a:ext cx="822960" cy="822960"/>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i="0">
                <a:solidFill>
                  <a:srgbClr val="FFFFFF"/>
                </a:solidFill>
                <a:latin typeface="Calibri"/>
              </a:rPr>
              <a:t>2</a:t>
            </a:r>
          </a:p>
        </p:txBody>
      </p:sp>
      <p:sp>
        <p:nvSpPr>
          <p:cNvPr id="8" name="TextBox 7"/>
          <p:cNvSpPr txBox="1"/>
          <p:nvPr/>
        </p:nvSpPr>
        <p:spPr>
          <a:xfrm>
            <a:off x="1828800" y="3291840"/>
            <a:ext cx="9601200" cy="1097280"/>
          </a:xfrm>
          <a:prstGeom prst="rect">
            <a:avLst/>
          </a:prstGeom>
          <a:noFill/>
        </p:spPr>
        <p:txBody>
          <a:bodyPr wrap="square">
            <a:spAutoFit/>
          </a:bodyPr>
          <a:lstStyle/>
          <a:p>
            <a:r>
              <a:rPr sz="2000" b="1" i="0">
                <a:solidFill>
                  <a:srgbClr val="0E2A47"/>
                </a:solidFill>
                <a:latin typeface="Calibri"/>
              </a:rPr>
              <a:t>Tune</a:t>
            </a:r>
          </a:p>
          <a:p>
            <a:pPr>
              <a:spcBef>
                <a:spcPts val="300"/>
              </a:spcBef>
            </a:pPr>
            <a:r>
              <a:rPr sz="1500" b="0" i="0">
                <a:solidFill>
                  <a:srgbClr val="5A6B76"/>
                </a:solidFill>
                <a:latin typeface="Calibri"/>
              </a:rPr>
              <a:t>Adjust matching and checkpoints to that practice's payors and habits</a:t>
            </a:r>
          </a:p>
        </p:txBody>
      </p:sp>
      <p:sp>
        <p:nvSpPr>
          <p:cNvPr id="9" name="Rectangle 8"/>
          <p:cNvSpPr/>
          <p:nvPr/>
        </p:nvSpPr>
        <p:spPr>
          <a:xfrm>
            <a:off x="731520" y="4663440"/>
            <a:ext cx="822960" cy="822960"/>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i="0">
                <a:solidFill>
                  <a:srgbClr val="FFFFFF"/>
                </a:solidFill>
                <a:latin typeface="Calibri"/>
              </a:rPr>
              <a:t>3</a:t>
            </a:r>
          </a:p>
        </p:txBody>
      </p:sp>
      <p:sp>
        <p:nvSpPr>
          <p:cNvPr id="10" name="TextBox 9"/>
          <p:cNvSpPr txBox="1"/>
          <p:nvPr/>
        </p:nvSpPr>
        <p:spPr>
          <a:xfrm>
            <a:off x="1828800" y="4663440"/>
            <a:ext cx="9601200" cy="1097280"/>
          </a:xfrm>
          <a:prstGeom prst="rect">
            <a:avLst/>
          </a:prstGeom>
          <a:noFill/>
        </p:spPr>
        <p:txBody>
          <a:bodyPr wrap="square">
            <a:spAutoFit/>
          </a:bodyPr>
          <a:lstStyle/>
          <a:p>
            <a:r>
              <a:rPr sz="2000" b="1" i="0">
                <a:solidFill>
                  <a:srgbClr val="0E2A47"/>
                </a:solidFill>
                <a:latin typeface="Calibri"/>
              </a:rPr>
              <a:t>Expand practice by practice</a:t>
            </a:r>
          </a:p>
          <a:p>
            <a:pPr>
              <a:spcBef>
                <a:spcPts val="300"/>
              </a:spcBef>
            </a:pPr>
            <a:r>
              <a:rPr sz="1500" b="0" i="0">
                <a:solidFill>
                  <a:srgbClr val="5A6B76"/>
                </a:solidFill>
                <a:latin typeface="Calibri"/>
              </a:rPr>
              <a:t>Each isolated, reusing what the agent learns about payors and formats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011680"/>
            <a:ext cx="137160" cy="2743200"/>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28800"/>
            <a:ext cx="10058400" cy="3200400"/>
          </a:xfrm>
          <a:prstGeom prst="rect">
            <a:avLst/>
          </a:prstGeom>
          <a:noFill/>
        </p:spPr>
        <p:txBody>
          <a:bodyPr wrap="square" anchor="ctr">
            <a:spAutoFit/>
          </a:bodyPr>
          <a:lstStyle/>
          <a:p>
            <a:r>
              <a:rPr sz="1600" b="1" i="0">
                <a:solidFill>
                  <a:srgbClr val="128C7E"/>
                </a:solidFill>
                <a:latin typeface="Calibri"/>
              </a:rPr>
              <a:t>In one sentence</a:t>
            </a:r>
          </a:p>
          <a:p>
            <a:pPr>
              <a:spcBef>
                <a:spcPts val="1400"/>
              </a:spcBef>
            </a:pPr>
            <a:r>
              <a:rPr sz="2400" b="1" i="0">
                <a:solidFill>
                  <a:srgbClr val="FFFFFF"/>
                </a:solidFill>
                <a:latin typeface="Calibri"/>
              </a:rPr>
              <a:t>A conversational agent that ingests every financial document a practice receives, reconciles the bank to the books with auditable precision, helps resolve every exception, pauses for your team's approval at the moments that matter, and delivers a finished month-end report ready for the physician.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